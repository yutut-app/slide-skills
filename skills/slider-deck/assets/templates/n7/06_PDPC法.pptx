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【PDPC法の使い方】</a:t>
            </a:r>
          </a:p>
          <a:p>
            <a:r>
              <a:t>・PDPC = Process Decision Program Chart。「思い通りに進まない場合」を先に描く</a:t>
            </a:r>
          </a:p>
          <a:p>
            <a:r>
              <a:t>・本線（うまくいく道）を先に描き、後から分岐と迂回路を足す</a:t>
            </a:r>
          </a:p>
          <a:p>
            <a:r>
              <a:t>・分岐は「うまくいくか」ではなく「何が起きたら止まるか」で考えると具体になる</a:t>
            </a:r>
          </a:p>
          <a:p>
            <a:r>
              <a:t>・代替手段は必ず本線に戻す。戻り先が無い代替手段は使えない</a:t>
            </a:r>
          </a:p>
          <a:p>
            <a:r>
              <a:t>・分岐は多くても3箇所。全ての失敗を描こうとすると読めなくなる</a:t>
            </a:r>
          </a:p>
          <a:p>
            <a:r>
              <a:t>・系統図法で手段を出し、PDPCでその手段の失敗に備える、という順で使う</a:t>
            </a:r>
          </a:p>
          <a:p/>
          <a:p>
            <a:r>
              <a:t>【編集方法】分岐のひし形と代替手段は1組をコピーして増やす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PDPC法（失敗した場合の迂回路を描く）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うまくいかない場合を先に想定し、代替手段を決めておく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71600" y="1554480"/>
            <a:ext cx="2651760" cy="713232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出発点（現状）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97480.0" y="2267712"/>
            <a:ext cx="0.0" cy="475488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371600" y="2743200"/>
            <a:ext cx="2651760" cy="713232"/>
          </a:xfrm>
          <a:prstGeom prst="round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手段1を実行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.0" y="3456432"/>
            <a:ext cx="0.0" cy="475488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371600" y="3931920"/>
            <a:ext cx="2651760" cy="713232"/>
          </a:xfrm>
          <a:prstGeom prst="round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手段2を実行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.0" y="4645152"/>
            <a:ext cx="0.0" cy="475488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371600" y="5120640"/>
            <a:ext cx="2651760" cy="713232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目標（達成状態）</a:t>
            </a:r>
          </a:p>
        </p:txBody>
      </p:sp>
      <p:sp>
        <p:nvSpPr>
          <p:cNvPr id="12" name="Diamond 11"/>
          <p:cNvSpPr/>
          <p:nvPr/>
        </p:nvSpPr>
        <p:spPr>
          <a:xfrm>
            <a:off x="5760720" y="2679192"/>
            <a:ext cx="2103120" cy="84124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うまくいくか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60" y="3099816.0"/>
            <a:ext cx="1737360" cy="0.0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43400" y="272491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Verdana"/>
                <a:ea typeface="Meiryo UI"/>
                <a:cs typeface="Verdana"/>
              </a:rPr>
              <a:t>想定外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743200"/>
            <a:ext cx="2651760" cy="713232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C00000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代替手段1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63840" y="3099816"/>
            <a:ext cx="1097280" cy="0.0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023360" y="3456432"/>
            <a:ext cx="4937760" cy="658368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5760720" y="3867912"/>
            <a:ext cx="2103120" cy="84124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うまくいくか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23360" y="4288536.0"/>
            <a:ext cx="1737360" cy="0.0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43400" y="39136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Verdana"/>
                <a:ea typeface="Meiryo UI"/>
                <a:cs typeface="Verdana"/>
              </a:rPr>
              <a:t>想定外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3931920"/>
            <a:ext cx="2651760" cy="713232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C00000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代替手段2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63840" y="4288536"/>
            <a:ext cx="1097280" cy="0.0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023360" y="4645152"/>
            <a:ext cx="4937760" cy="658368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