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【系統図法の使い方】</a:t>
            </a:r>
          </a:p>
          <a:p>
            <a:r>
              <a:t>・左が目的、右が手段。右へ行くほど具体になる</a:t>
            </a:r>
          </a:p>
          <a:p>
            <a:r>
              <a:t>・各段で「そのために何をするか」を問う。答えが精神論なら展開が浅い</a:t>
            </a:r>
          </a:p>
          <a:p>
            <a:r>
              <a:t>・末端は「誰が・いつ・何を」まで書ける粒度にする。書けないならもう1段掘る</a:t>
            </a:r>
          </a:p>
          <a:p>
            <a:r>
              <a:t>・対策が全部『教育』になったら5E（排除・代替・隔離・工学・防護）の観点を足す</a:t>
            </a:r>
          </a:p>
          <a:p>
            <a:r>
              <a:t>・展開しきったら、マトリックス図法で効果と実現性を評価して絞る</a:t>
            </a:r>
          </a:p>
          <a:p/>
          <a:p>
            <a:r>
              <a:t>【編集方法】枝はグループごとに複製する。段数は3段で足りなければ4段に増やす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Verdana"/>
                <a:ea typeface="Meiryo UI"/>
                <a:cs typeface="Verdana"/>
              </a:rPr>
              <a:t>系統図法（目的から手段へ展開する）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目的を手段に分解し、末端が実行できる粒度になるまで掘る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" y="3200400"/>
            <a:ext cx="2011680" cy="822960"/>
          </a:xfrm>
          <a:prstGeom prst="round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737360"/>
            <a:ext cx="2286000" cy="685800"/>
          </a:xfrm>
          <a:prstGeom prst="rect">
            <a:avLst/>
          </a:prstGeom>
          <a:solidFill>
            <a:srgbClr val="D9E2F3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1次手段1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468880" y="2075688"/>
            <a:ext cx="457200" cy="1536192"/>
          </a:xfrm>
          <a:prstGeom prst="line">
            <a:avLst/>
          </a:prstGeom>
          <a:ln w="15875">
            <a:solidFill>
              <a:srgbClr val="4472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669280" y="1444752"/>
            <a:ext cx="2560320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2次手段1-1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5212080" y="1755648"/>
            <a:ext cx="457200" cy="320040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0" y="1444752"/>
            <a:ext cx="2651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具体策（誰が・いつ・何を）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0" y="1755648"/>
            <a:ext cx="457200" cy="0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5669280" y="2194560"/>
            <a:ext cx="2560320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2次手段1-2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12080" y="2075688"/>
            <a:ext cx="457200" cy="429768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0" y="2194560"/>
            <a:ext cx="2651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具体策（誰が・いつ・何を）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0" y="2505456"/>
            <a:ext cx="457200" cy="0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926080" y="3291840"/>
            <a:ext cx="2286000" cy="685800"/>
          </a:xfrm>
          <a:prstGeom prst="rect">
            <a:avLst/>
          </a:prstGeom>
          <a:solidFill>
            <a:srgbClr val="D9E2F3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1次手段2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68880" y="3611880"/>
            <a:ext cx="457200" cy="18288"/>
          </a:xfrm>
          <a:prstGeom prst="line">
            <a:avLst/>
          </a:prstGeom>
          <a:ln w="15875">
            <a:solidFill>
              <a:srgbClr val="4472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669280" y="2999232"/>
            <a:ext cx="2560320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2次手段2-1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212080" y="3310128"/>
            <a:ext cx="457200" cy="320040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686800" y="2999232"/>
            <a:ext cx="2651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具体策（誰が・いつ・何を）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0" y="3310128"/>
            <a:ext cx="457200" cy="0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669280" y="3749040"/>
            <a:ext cx="2560320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2次手段2-2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212080" y="3630168"/>
            <a:ext cx="457200" cy="429768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686800" y="3749040"/>
            <a:ext cx="2651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具体策（誰が・いつ・何を）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229600" y="4059936"/>
            <a:ext cx="457200" cy="0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926080" y="4846320"/>
            <a:ext cx="2286000" cy="685800"/>
          </a:xfrm>
          <a:prstGeom prst="rect">
            <a:avLst/>
          </a:prstGeom>
          <a:solidFill>
            <a:srgbClr val="D9E2F3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1次手段3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468880" y="3611880"/>
            <a:ext cx="457200" cy="1572768"/>
          </a:xfrm>
          <a:prstGeom prst="line">
            <a:avLst/>
          </a:prstGeom>
          <a:ln w="15875">
            <a:solidFill>
              <a:srgbClr val="4472C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669280" y="4553712"/>
            <a:ext cx="2560320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2次手段3-1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5212080" y="4864608"/>
            <a:ext cx="457200" cy="320040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686800" y="4553712"/>
            <a:ext cx="2651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具体策（誰が・いつ・何を）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229600" y="4864608"/>
            <a:ext cx="457200" cy="0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669280" y="5303520"/>
            <a:ext cx="2560320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000" b="0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2次手段3-2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212080" y="5184648"/>
            <a:ext cx="457200" cy="429768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8686800" y="5303520"/>
            <a:ext cx="2651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具体策（誰が・いつ・何を）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229600" y="5614416"/>
            <a:ext cx="457200" cy="0"/>
          </a:xfrm>
          <a:prstGeom prst="line">
            <a:avLst/>
          </a:prstGeom>
          <a:ln w="12700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