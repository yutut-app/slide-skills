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【連関図法の使い方】</a:t>
            </a:r>
          </a:p>
          <a:p>
            <a:r>
              <a:t>・矢印は必ず「原因 → 結果」の向き。向きを間違えると症状に対策してしまう</a:t>
            </a:r>
          </a:p>
          <a:p>
            <a:r>
              <a:t>・出ている矢印が多い＝多くを引き起こしている＝真因の候補</a:t>
            </a:r>
          </a:p>
          <a:p>
            <a:r>
              <a:t>・入ってくる矢印が多い＝結果側。ここを叩いても再発する</a:t>
            </a:r>
          </a:p>
          <a:p>
            <a:r>
              <a:t>・要因を絞る。全部つなぐと矢印だらけで読めない。主要なものに限定する</a:t>
            </a:r>
          </a:p>
          <a:p>
            <a:r>
              <a:t>・特性要因図が「網羅」なら、連関図は「関係」。目的が違うので併用する</a:t>
            </a:r>
          </a:p>
          <a:p/>
          <a:p>
            <a:r>
              <a:t>【編集方法】不要な矢印は削除する。要因ボックスは複製して配置し直す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338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  <a:latin typeface="Verdana"/>
                <a:ea typeface="Meiryo UI"/>
                <a:cs typeface="Verdana"/>
              </a:rPr>
              <a:t>連関図法（絡み合う要因から真因を探す）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49808"/>
            <a:ext cx="113385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Verdana"/>
                <a:ea typeface="Meiryo UI"/>
                <a:cs typeface="Verdana"/>
              </a:rPr>
              <a:t>要因どうしを矢印で結び、出る矢印の多い要因を真因として選ぶ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152144"/>
            <a:ext cx="11274552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166360" y="3291840"/>
            <a:ext cx="2194560" cy="9601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Verdana"/>
                <a:ea typeface="Meiryo UI"/>
                <a:cs typeface="Verdana"/>
              </a:rPr>
              <a:t>問題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Verdana"/>
                <a:ea typeface="Meiryo UI"/>
                <a:cs typeface="Verdana"/>
              </a:rPr>
              <a:t>（中心に置く）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554480"/>
            <a:ext cx="1737360" cy="658368"/>
          </a:xfrm>
          <a:prstGeom prst="rect">
            <a:avLst/>
          </a:prstGeom>
          <a:solidFill>
            <a:srgbClr val="D9E2F3"/>
          </a:solidFill>
          <a:ln w="12700">
            <a:solidFill>
              <a:srgbClr val="4472C4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000" b="0">
                <a:solidFill>
                  <a:srgbClr val="333333"/>
                </a:solidFill>
                <a:latin typeface="Verdana"/>
                <a:ea typeface="Meiryo UI"/>
                <a:cs typeface="Verdana"/>
              </a:rPr>
              <a:t>要因1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64194" y="2212848"/>
            <a:ext cx="2602166" cy="1096626"/>
          </a:xfrm>
          <a:prstGeom prst="line">
            <a:avLst/>
          </a:prstGeom>
          <a:ln w="1270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257800" y="1481328"/>
            <a:ext cx="1737360" cy="658368"/>
          </a:xfrm>
          <a:prstGeom prst="rect">
            <a:avLst/>
          </a:prstGeom>
          <a:solidFill>
            <a:srgbClr val="D9E2F3"/>
          </a:solidFill>
          <a:ln w="12700">
            <a:solidFill>
              <a:srgbClr val="4472C4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000" b="0">
                <a:solidFill>
                  <a:srgbClr val="333333"/>
                </a:solidFill>
                <a:latin typeface="Verdana"/>
                <a:ea typeface="Meiryo UI"/>
                <a:cs typeface="Verdana"/>
              </a:rPr>
              <a:t>要因2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49499" y="2139696"/>
            <a:ext cx="80570" cy="1152144"/>
          </a:xfrm>
          <a:prstGeom prst="line">
            <a:avLst/>
          </a:prstGeom>
          <a:ln w="1270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9509760" y="1554480"/>
            <a:ext cx="1737360" cy="658368"/>
          </a:xfrm>
          <a:prstGeom prst="rect">
            <a:avLst/>
          </a:prstGeom>
          <a:solidFill>
            <a:srgbClr val="D9E2F3"/>
          </a:solidFill>
          <a:ln w="12700">
            <a:solidFill>
              <a:srgbClr val="4472C4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000" b="0">
                <a:solidFill>
                  <a:srgbClr val="333333"/>
                </a:solidFill>
                <a:latin typeface="Verdana"/>
                <a:ea typeface="Meiryo UI"/>
                <a:cs typeface="Verdana"/>
              </a:rPr>
              <a:t>要因3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7309775" y="2212848"/>
            <a:ext cx="2351314" cy="1078992"/>
          </a:xfrm>
          <a:prstGeom prst="line">
            <a:avLst/>
          </a:prstGeom>
          <a:ln w="1270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777240" y="3401568"/>
            <a:ext cx="1737360" cy="658368"/>
          </a:xfrm>
          <a:prstGeom prst="rect">
            <a:avLst/>
          </a:prstGeom>
          <a:solidFill>
            <a:srgbClr val="D9E2F3"/>
          </a:solidFill>
          <a:ln w="12700">
            <a:solidFill>
              <a:srgbClr val="4472C4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000" b="0">
                <a:solidFill>
                  <a:srgbClr val="333333"/>
                </a:solidFill>
                <a:latin typeface="Verdana"/>
                <a:ea typeface="Meiryo UI"/>
                <a:cs typeface="Verdana"/>
              </a:rPr>
              <a:t>要因4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14600" y="3738492"/>
            <a:ext cx="2651760" cy="23630"/>
          </a:xfrm>
          <a:prstGeom prst="line">
            <a:avLst/>
          </a:prstGeom>
          <a:ln w="1270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646920" y="3401568"/>
            <a:ext cx="1737360" cy="658368"/>
          </a:xfrm>
          <a:prstGeom prst="rect">
            <a:avLst/>
          </a:prstGeom>
          <a:solidFill>
            <a:srgbClr val="D9E2F3"/>
          </a:solidFill>
          <a:ln w="12700">
            <a:solidFill>
              <a:srgbClr val="4472C4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000" b="0">
                <a:solidFill>
                  <a:srgbClr val="333333"/>
                </a:solidFill>
                <a:latin typeface="Verdana"/>
                <a:ea typeface="Meiryo UI"/>
                <a:cs typeface="Verdana"/>
              </a:rPr>
              <a:t>要因5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7360920" y="3739158"/>
            <a:ext cx="2286000" cy="22123"/>
          </a:xfrm>
          <a:prstGeom prst="line">
            <a:avLst/>
          </a:prstGeom>
          <a:ln w="1270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914400" y="5230368"/>
            <a:ext cx="1737360" cy="658368"/>
          </a:xfrm>
          <a:prstGeom prst="rect">
            <a:avLst/>
          </a:prstGeom>
          <a:solidFill>
            <a:srgbClr val="D9E2F3"/>
          </a:solidFill>
          <a:ln w="12700">
            <a:solidFill>
              <a:srgbClr val="4472C4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000" b="0">
                <a:solidFill>
                  <a:srgbClr val="333333"/>
                </a:solidFill>
                <a:latin typeface="Verdana"/>
                <a:ea typeface="Meiryo UI"/>
                <a:cs typeface="Verdana"/>
              </a:rPr>
              <a:t>要因6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2608144" y="4209692"/>
            <a:ext cx="2558216" cy="1020676"/>
          </a:xfrm>
          <a:prstGeom prst="line">
            <a:avLst/>
          </a:prstGeom>
          <a:ln w="1270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257800" y="5440680"/>
            <a:ext cx="1737360" cy="658368"/>
          </a:xfrm>
          <a:prstGeom prst="rect">
            <a:avLst/>
          </a:prstGeom>
          <a:solidFill>
            <a:srgbClr val="D9E2F3"/>
          </a:solidFill>
          <a:ln w="12700">
            <a:solidFill>
              <a:srgbClr val="4472C4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000" b="0">
                <a:solidFill>
                  <a:srgbClr val="333333"/>
                </a:solidFill>
                <a:latin typeface="Verdana"/>
                <a:ea typeface="Meiryo UI"/>
                <a:cs typeface="Verdana"/>
              </a:rPr>
              <a:t>要因7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6149078" y="4251960"/>
            <a:ext cx="81605" cy="1188720"/>
          </a:xfrm>
          <a:prstGeom prst="line">
            <a:avLst/>
          </a:prstGeom>
          <a:ln w="1270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9509760" y="5230368"/>
            <a:ext cx="1737360" cy="658368"/>
          </a:xfrm>
          <a:prstGeom prst="rect">
            <a:avLst/>
          </a:prstGeom>
          <a:solidFill>
            <a:srgbClr val="D9E2F3"/>
          </a:solidFill>
          <a:ln w="12700">
            <a:solidFill>
              <a:srgbClr val="4472C4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000" b="0">
                <a:solidFill>
                  <a:srgbClr val="333333"/>
                </a:solidFill>
                <a:latin typeface="Verdana"/>
                <a:ea typeface="Meiryo UI"/>
                <a:cs typeface="Verdana"/>
              </a:rPr>
              <a:t>要因8</a:t>
            </a:r>
          </a:p>
        </p:txBody>
      </p:sp>
      <p:cxnSp>
        <p:nvCxnSpPr>
          <p:cNvPr id="21" name="Connector 20"/>
          <p:cNvCxnSpPr/>
          <p:nvPr/>
        </p:nvCxnSpPr>
        <p:spPr>
          <a:xfrm flipH="1" flipV="1">
            <a:off x="7360920" y="4248607"/>
            <a:ext cx="2259807" cy="981761"/>
          </a:xfrm>
          <a:prstGeom prst="line">
            <a:avLst/>
          </a:prstGeom>
          <a:ln w="1270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57200" y="6355080"/>
            <a:ext cx="112745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08080"/>
                </a:solidFill>
                <a:latin typeface="Verdana"/>
                <a:ea typeface="Meiryo UI"/>
                <a:cs typeface="Verdana"/>
              </a:rPr>
              <a:t>矢印は「原因 → 結果」の向きで引く／出ている矢印が多い要因が真因の候補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