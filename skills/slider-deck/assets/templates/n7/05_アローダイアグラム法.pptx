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【アローダイアグラム法の使い方】</a:t>
            </a:r>
          </a:p>
          <a:p>
            <a:r>
              <a:t>・矢印が作業、丸が結合点（作業の区切り）。矢印の上に作業名、下に所要日数を書く</a:t>
            </a:r>
          </a:p>
          <a:p>
            <a:r>
              <a:t>・最も長い経路がクリティカルパス。ここを短縮しないと全体は縮まない</a:t>
            </a:r>
          </a:p>
          <a:p>
            <a:r>
              <a:t>・余裕のある経路に人を張り付けても工期は縮まない。まずクリティカルパスを見る</a:t>
            </a:r>
          </a:p>
          <a:p>
            <a:r>
              <a:t>・並行できる作業を洗い出してから並べる。順番に並べるだけでは短縮できない</a:t>
            </a:r>
          </a:p>
          <a:p>
            <a:r>
              <a:t>・ガントチャートは進捗管理向き、アローダイアグラムは順序の設計向き。役割が違う</a:t>
            </a:r>
          </a:p>
          <a:p/>
          <a:p>
            <a:r>
              <a:t>【編集方法】結合点と矢印を複製して増やす。クリティカルパスだけ赤・太線にする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Verdana"/>
                <a:ea typeface="Meiryo UI"/>
                <a:cs typeface="Verdana"/>
              </a:rPr>
              <a:t>アローダイアグラム法（日程と順序を組む）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11338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作業の前後関係を並べ、最も長い経路を工期として押さえる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152144"/>
            <a:ext cx="11274552" cy="0"/>
          </a:xfrm>
          <a:prstGeom prst="line">
            <a:avLst/>
          </a:prstGeom>
          <a:ln w="12700">
            <a:solidFill>
              <a:srgbClr val="BFB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822960" y="228600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3017520" y="228600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5212080" y="228600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7406640" y="228600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9601200" y="228600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11155680" y="2286000"/>
            <a:ext cx="566928" cy="566928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89888" y="2569464"/>
            <a:ext cx="1627632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655064" y="1901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作業A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294436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○日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2569464"/>
            <a:ext cx="1627632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849624" y="1901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作業B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9624" y="294436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○日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79008" y="2569464"/>
            <a:ext cx="1627632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044184" y="1901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作業C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44184" y="294436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○日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973568" y="2569464"/>
            <a:ext cx="1627632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38744" y="1901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作業D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94436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○日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168128" y="2569464"/>
            <a:ext cx="987552" cy="0"/>
          </a:xfrm>
          <a:prstGeom prst="line">
            <a:avLst/>
          </a:prstGeom>
          <a:ln w="25400">
            <a:solidFill>
              <a:srgbClr val="C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10113264" y="1901952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333333"/>
                </a:solidFill>
                <a:latin typeface="Verdana"/>
                <a:ea typeface="Meiryo UI"/>
                <a:cs typeface="Verdana"/>
              </a:rPr>
              <a:t>作業E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13264" y="2944368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○日</a:t>
            </a:r>
          </a:p>
        </p:txBody>
      </p:sp>
      <p:sp>
        <p:nvSpPr>
          <p:cNvPr id="26" name="Oval 25"/>
          <p:cNvSpPr/>
          <p:nvPr/>
        </p:nvSpPr>
        <p:spPr>
          <a:xfrm>
            <a:off x="5212080" y="4206240"/>
            <a:ext cx="566928" cy="566928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  <a:effectLst/>
        </p:spPr>
        <p:txBody>
          <a:bodyPr rtlCol="0" anchor="ctr" wrap="square" lIns="54864" rIns="54864" tIns="27432" bIns="27432"/>
          <a:lstStyle/>
          <a:p>
            <a:pPr algn="ctr"/>
            <a:r>
              <a:rPr sz="1200" b="1">
                <a:solidFill>
                  <a:srgbClr val="FFFFFF"/>
                </a:solidFill>
                <a:latin typeface="Verdana"/>
                <a:ea typeface="Meiryo UI"/>
                <a:cs typeface="Verdana"/>
              </a:rPr>
              <a:t>7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83280" y="2852928"/>
            <a:ext cx="1828800" cy="1636776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779008" y="2852928"/>
            <a:ext cx="1810512" cy="1636776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4937760" y="4846320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並行作業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715000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C00000"/>
                </a:solidFill>
                <a:latin typeface="Verdana"/>
                <a:ea typeface="Meiryo UI"/>
                <a:cs typeface="Verdana"/>
              </a:rPr>
              <a:t>赤の経路がクリティカルパス／ここが1日延びると全体が1日延びる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44184"/>
            <a:ext cx="10515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Verdana"/>
                <a:ea typeface="Meiryo UI"/>
                <a:cs typeface="Verdana"/>
              </a:rPr>
              <a:t>灰の経路には余裕（フロート）がある／遅れても全体には響かない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