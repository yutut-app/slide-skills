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【マトリックスデータ解析法の使い方】</a:t>
            </a:r>
          </a:p>
          <a:p>
            <a:r>
              <a:t>・新QC7つ道具で唯一、数値データを使う道具。主成分分析にあたる</a:t>
            </a:r>
          </a:p>
          <a:p>
            <a:r>
              <a:t>・多数の評価項目を、情報量の多い2軸に圧縮して散布図にする</a:t>
            </a:r>
          </a:p>
          <a:p>
            <a:r>
              <a:t>・軸には必ず意味を読み取って名前を付ける。「第1主成分」のままでは説明できない</a:t>
            </a:r>
          </a:p>
          <a:p>
            <a:r>
              <a:t>・軸の意味は寄与率と因子負荷量から読む。感覚で名付けない</a:t>
            </a:r>
          </a:p>
          <a:p>
            <a:r>
              <a:t>・寄与率の合計が低い（目安7割未満）なら2軸で語れない。軸を増やすか手法を変える</a:t>
            </a:r>
          </a:p>
          <a:p>
            <a:r>
              <a:t>・計算は Excel の分析ツールか統計ソフトで行う。この図は結果を貼る枠</a:t>
            </a:r>
          </a:p>
          <a:p/>
          <a:p>
            <a:r>
              <a:t>【編集方法】点はコピーして増やす。軸名は必ず実データから読み取って書き換える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Verdana"/>
                <a:ea typeface="Meiryo UI"/>
                <a:cs typeface="Verdana"/>
              </a:rPr>
              <a:t>マトリックスデータ解析法（多変量を少数の軸に要約する）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多くの評価項目を2軸に圧縮し、位置づけの違いを見る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94560" y="1600200"/>
            <a:ext cx="7680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3840480.0"/>
            <a:ext cx="7680960" cy="0.0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35040.0" y="1600200"/>
            <a:ext cx="0.0" cy="4480560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194560" y="1463040"/>
            <a:ext cx="0" cy="461772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94560" y="6080760"/>
            <a:ext cx="7818120" cy="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37033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F4E79"/>
                </a:solidFill>
                <a:latin typeface="Verdana"/>
                <a:ea typeface="Meiryo UI"/>
                <a:cs typeface="Verdana"/>
              </a:rPr>
              <a:t>第2主成分（軸2）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62453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Verdana"/>
                <a:ea typeface="Meiryo UI"/>
                <a:cs typeface="Verdana"/>
              </a:rPr>
              <a:t>第1主成分（軸1）</a:t>
            </a:r>
          </a:p>
        </p:txBody>
      </p:sp>
      <p:sp>
        <p:nvSpPr>
          <p:cNvPr id="12" name="Oval 11"/>
          <p:cNvSpPr/>
          <p:nvPr/>
        </p:nvSpPr>
        <p:spPr>
          <a:xfrm>
            <a:off x="3291840" y="2377440"/>
            <a:ext cx="201168" cy="20116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322576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Verdana"/>
                <a:ea typeface="Meiryo UI"/>
                <a:cs typeface="Verdana"/>
              </a:rPr>
              <a:t>対象A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2651760"/>
            <a:ext cx="201168" cy="20116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2596896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Verdana"/>
                <a:ea typeface="Meiryo UI"/>
                <a:cs typeface="Verdana"/>
              </a:rPr>
              <a:t>対象B</a:t>
            </a:r>
          </a:p>
        </p:txBody>
      </p:sp>
      <p:sp>
        <p:nvSpPr>
          <p:cNvPr id="16" name="Oval 15"/>
          <p:cNvSpPr/>
          <p:nvPr/>
        </p:nvSpPr>
        <p:spPr>
          <a:xfrm>
            <a:off x="3931920" y="4846320"/>
            <a:ext cx="201168" cy="20116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2" y="4791456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472C4"/>
                </a:solidFill>
                <a:latin typeface="Verdana"/>
                <a:ea typeface="Meiryo UI"/>
                <a:cs typeface="Verdana"/>
              </a:rPr>
              <a:t>対象C</a:t>
            </a:r>
          </a:p>
        </p:txBody>
      </p:sp>
      <p:sp>
        <p:nvSpPr>
          <p:cNvPr id="18" name="Oval 17"/>
          <p:cNvSpPr/>
          <p:nvPr/>
        </p:nvSpPr>
        <p:spPr>
          <a:xfrm>
            <a:off x="8595360" y="4572000"/>
            <a:ext cx="201168" cy="20116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4517136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472C4"/>
                </a:solidFill>
                <a:latin typeface="Verdana"/>
                <a:ea typeface="Meiryo UI"/>
                <a:cs typeface="Verdana"/>
              </a:rPr>
              <a:t>対象D</a:t>
            </a:r>
          </a:p>
        </p:txBody>
      </p:sp>
      <p:sp>
        <p:nvSpPr>
          <p:cNvPr id="20" name="Oval 19"/>
          <p:cNvSpPr/>
          <p:nvPr/>
        </p:nvSpPr>
        <p:spPr>
          <a:xfrm>
            <a:off x="5760720" y="3566160"/>
            <a:ext cx="201168" cy="20116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3511296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  <a:latin typeface="Verdana"/>
                <a:ea typeface="Meiryo UI"/>
                <a:cs typeface="Verdana"/>
              </a:rPr>
              <a:t>自社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1709928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第2象限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709928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第1象限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733288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第3象限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5733288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第4象限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